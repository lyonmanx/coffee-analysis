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7" r:id="rId2"/>
    <p:sldId id="472" r:id="rId3"/>
    <p:sldId id="333" r:id="rId4"/>
    <p:sldId id="496" r:id="rId5"/>
    <p:sldId id="490" r:id="rId6"/>
    <p:sldId id="491" r:id="rId7"/>
    <p:sldId id="492" r:id="rId8"/>
    <p:sldId id="493" r:id="rId9"/>
    <p:sldId id="494" r:id="rId10"/>
    <p:sldId id="495" r:id="rId11"/>
    <p:sldId id="293" r:id="rId12"/>
  </p:sldIdLst>
  <p:sldSz cx="12192000" cy="6858000"/>
  <p:notesSz cx="6858000" cy="9144000"/>
  <p:embeddedFontLst>
    <p:embeddedFont>
      <p:font typeface="맑은 고딕" panose="020B0503020000020004" pitchFamily="34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0A0A0A"/>
    <a:srgbClr val="F4EDD5"/>
    <a:srgbClr val="234819"/>
    <a:srgbClr val="9AA91E"/>
    <a:srgbClr val="798915"/>
    <a:srgbClr val="A6B75A"/>
    <a:srgbClr val="EB5C53"/>
    <a:srgbClr val="5A6CCD"/>
    <a:srgbClr val="F48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300646-0A84-4C15-98E8-CDBFC2C58F65}" v="25" dt="2025-12-01T15:57:02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8" autoAdjust="0"/>
    <p:restoredTop sz="94660"/>
  </p:normalViewPr>
  <p:slideViewPr>
    <p:cSldViewPr snapToGrid="0">
      <p:cViewPr varScale="1">
        <p:scale>
          <a:sx n="66" d="100"/>
          <a:sy n="66" d="100"/>
        </p:scale>
        <p:origin x="80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0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47FDBB1-5EC9-40FD-9A36-D4E35C581F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663819-6E29-4FB7-BF1C-93C4B4D769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5FC5A-1932-4642-9CF8-618CD292DDF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AF1716-40E8-4512-B252-D7362A0E94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3C99E-C3C0-40AD-AD91-8E96E8F586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86696-F86F-4066-9FDD-77F2B013F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592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hyperlink" Target="http://pptmon.com/" TargetMode="External"/><Relationship Id="rId16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pptmon.com/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17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Relationship Id="rId9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  <a:extLst>
              <a:ext uri="{FF2B5EF4-FFF2-40B4-BE49-F238E27FC236}">
                <a16:creationId xmlns:a16="http://schemas.microsoft.com/office/drawing/2014/main" id="{BC25E57B-ADB4-42A6-BFF6-25417C95AF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6" name="TextBox 5">
            <a:hlinkClick r:id="rId5"/>
            <a:extLst>
              <a:ext uri="{FF2B5EF4-FFF2-40B4-BE49-F238E27FC236}">
                <a16:creationId xmlns:a16="http://schemas.microsoft.com/office/drawing/2014/main" id="{2D9E64D2-7275-48CC-A21D-A128DA2B1B7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26CBE32-40D5-4965-991F-A56E3CCC265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00" y="469371"/>
            <a:ext cx="8356600" cy="59192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65771F-E969-4BF4-8E03-313FD85072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" t="18398"/>
          <a:stretch/>
        </p:blipFill>
        <p:spPr>
          <a:xfrm>
            <a:off x="0" y="0"/>
            <a:ext cx="2546958" cy="226445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BFE0FCF-81AD-4EE8-B49E-CAFB80964E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1"/>
          <a:stretch/>
        </p:blipFill>
        <p:spPr>
          <a:xfrm>
            <a:off x="2226947" y="0"/>
            <a:ext cx="2962010" cy="18721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C136F75-29BE-49F0-B3EF-9A6F3F0B9E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9"/>
          <a:stretch/>
        </p:blipFill>
        <p:spPr>
          <a:xfrm>
            <a:off x="5390288" y="-1"/>
            <a:ext cx="3470638" cy="127655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5501155-C620-4B9E-8C16-D97FBF118A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5"/>
          <a:stretch/>
        </p:blipFill>
        <p:spPr>
          <a:xfrm>
            <a:off x="9042994" y="0"/>
            <a:ext cx="3149006" cy="175037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125CD84-D395-4413-A3E2-37263CB72D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79"/>
          <a:stretch/>
        </p:blipFill>
        <p:spPr>
          <a:xfrm>
            <a:off x="9773466" y="1549093"/>
            <a:ext cx="2418534" cy="287973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DBB64F6-C959-49E5-A43B-DA825539E5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55"/>
          <a:stretch/>
        </p:blipFill>
        <p:spPr>
          <a:xfrm>
            <a:off x="8417855" y="4127865"/>
            <a:ext cx="3774146" cy="273013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01C3D54-8ECF-4E45-8F2D-842524DD02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496"/>
          <a:stretch/>
        </p:blipFill>
        <p:spPr>
          <a:xfrm>
            <a:off x="3747335" y="5415878"/>
            <a:ext cx="4697329" cy="144212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244DAD1-A3CE-4B8C-8BBD-C0AF239893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" b="5694"/>
          <a:stretch/>
        </p:blipFill>
        <p:spPr>
          <a:xfrm>
            <a:off x="-1" y="4297411"/>
            <a:ext cx="3495206" cy="256058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01504A6-42E0-4409-BF6E-6A21CFE6DE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" r="-1"/>
          <a:stretch/>
        </p:blipFill>
        <p:spPr>
          <a:xfrm>
            <a:off x="-1" y="2050142"/>
            <a:ext cx="2397399" cy="21915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E91B24-B72B-4B2D-86C7-9261AA3BDDE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658" y="4204254"/>
            <a:ext cx="3978684" cy="11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E84CFC-48B0-45A9-8874-99F8FA2BDB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/>
          <a:stretch/>
        </p:blipFill>
        <p:spPr>
          <a:xfrm flipH="1">
            <a:off x="9727586" y="0"/>
            <a:ext cx="2464414" cy="18304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A14F336-7BBA-43DD-8C16-6F5CE9BA9F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3"/>
          <a:stretch/>
        </p:blipFill>
        <p:spPr>
          <a:xfrm flipH="1">
            <a:off x="-1" y="4313834"/>
            <a:ext cx="2287824" cy="254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95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EFF2049-AEA1-4014-8745-24DA9FFA4B3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85730" y="4267070"/>
            <a:ext cx="2306270" cy="24516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B9CD45B-407D-4432-93E1-EBE02D5A20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6203"/>
            <a:ext cx="3066216" cy="158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5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E71AC3-62D6-4AEF-A4A6-713FFC1415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56"/>
          <a:stretch/>
        </p:blipFill>
        <p:spPr>
          <a:xfrm>
            <a:off x="9346611" y="4790058"/>
            <a:ext cx="2647858" cy="20679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5631208-E9E7-4B8F-A600-0FF9FCACFA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7"/>
          <a:stretch/>
        </p:blipFill>
        <p:spPr>
          <a:xfrm>
            <a:off x="3809" y="0"/>
            <a:ext cx="3799750" cy="24211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154F407-D258-4F24-B09A-AD47880DD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0" b="4235"/>
          <a:stretch/>
        </p:blipFill>
        <p:spPr>
          <a:xfrm>
            <a:off x="0" y="3634649"/>
            <a:ext cx="4035433" cy="32233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7B8A790-087A-4563-86A7-D32BCB135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68" r="16500"/>
          <a:stretch/>
        </p:blipFill>
        <p:spPr>
          <a:xfrm>
            <a:off x="8147250" y="0"/>
            <a:ext cx="4040941" cy="25782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8143891-95FB-4021-89C7-8D454513337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00" y="469371"/>
            <a:ext cx="8356600" cy="591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96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29A472D-F07B-4CB2-BCF0-181165BEEB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801" b="5740"/>
          <a:stretch/>
        </p:blipFill>
        <p:spPr>
          <a:xfrm flipH="1">
            <a:off x="-1" y="5145063"/>
            <a:ext cx="2759778" cy="17129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92E31FE-B7DF-4F83-A019-5373C77616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b="8304"/>
          <a:stretch/>
        </p:blipFill>
        <p:spPr>
          <a:xfrm flipH="1">
            <a:off x="9253153" y="4583878"/>
            <a:ext cx="2938847" cy="22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9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1981B3B-FE37-42EF-B7B5-1A036579F0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30"/>
          <a:stretch/>
        </p:blipFill>
        <p:spPr>
          <a:xfrm flipH="1">
            <a:off x="-1" y="4445999"/>
            <a:ext cx="2977729" cy="24120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C2BF636-12FC-4BB0-840E-C0E330E4D9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0"/>
          <a:stretch/>
        </p:blipFill>
        <p:spPr>
          <a:xfrm flipH="1">
            <a:off x="9525306" y="0"/>
            <a:ext cx="2666694" cy="159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7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163086A-7D94-450C-AE58-A01445C0A6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8" b="10883"/>
          <a:stretch/>
        </p:blipFill>
        <p:spPr>
          <a:xfrm flipH="1">
            <a:off x="9782262" y="5171624"/>
            <a:ext cx="2409738" cy="16863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BBCCA27-FD84-4B68-915D-78C33D70FD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6" t="9991"/>
          <a:stretch/>
        </p:blipFill>
        <p:spPr>
          <a:xfrm>
            <a:off x="-1" y="-1"/>
            <a:ext cx="1872673" cy="174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69BAD6C-9116-4130-BB25-BE333B79CDB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393" y="5062590"/>
            <a:ext cx="2090708" cy="17954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09C063-A8AB-4EE0-A136-5D9AF7DC80F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0" y="63134"/>
            <a:ext cx="2338757" cy="163594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11AEE7E-248D-409E-A46A-25C986CBB3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6" r="27459"/>
          <a:stretch/>
        </p:blipFill>
        <p:spPr>
          <a:xfrm>
            <a:off x="9501493" y="0"/>
            <a:ext cx="2690508" cy="329470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E705C3D-F1B9-46FC-8863-DA85C9AB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5" r="17260"/>
          <a:stretch/>
        </p:blipFill>
        <p:spPr>
          <a:xfrm flipH="1" flipV="1">
            <a:off x="-1" y="4748790"/>
            <a:ext cx="3161643" cy="210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76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5EADEC1-D949-431C-902B-E03C4EE5BFB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8873" y="0"/>
            <a:ext cx="1893127" cy="123660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66BA31D-6597-4362-8DF8-03507E5CF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0"/>
          <a:stretch/>
        </p:blipFill>
        <p:spPr>
          <a:xfrm>
            <a:off x="-19565" y="4834467"/>
            <a:ext cx="2198906" cy="202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87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546F216E-3117-4825-994E-40C5AE4D0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1" b="17727"/>
          <a:stretch/>
        </p:blipFill>
        <p:spPr>
          <a:xfrm>
            <a:off x="3393406" y="1"/>
            <a:ext cx="4149965" cy="2654300"/>
          </a:xfrm>
          <a:prstGeom prst="rect">
            <a:avLst/>
          </a:prstGeom>
        </p:spPr>
      </p:pic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79A674-07E0-4CE3-BDD8-252AF2294F1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54906" y="4849100"/>
            <a:ext cx="2339312" cy="20089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467DFA-18C0-4B11-9BA0-7D7211E7E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9" r="66217" b="61436"/>
          <a:stretch/>
        </p:blipFill>
        <p:spPr>
          <a:xfrm rot="5400000" flipH="1">
            <a:off x="10900462" y="110435"/>
            <a:ext cx="1401974" cy="11811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4DF609-3D98-460A-AD74-0D1F6F1CF8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5" r="34223"/>
          <a:stretch/>
        </p:blipFill>
        <p:spPr>
          <a:xfrm flipV="1">
            <a:off x="9379681" y="4752900"/>
            <a:ext cx="2812319" cy="2105100"/>
          </a:xfrm>
          <a:prstGeom prst="rect">
            <a:avLst/>
          </a:prstGeom>
        </p:spPr>
      </p:pic>
      <p:sp>
        <p:nvSpPr>
          <p:cNvPr id="12" name="그림 개체 틀 4">
            <a:extLst>
              <a:ext uri="{FF2B5EF4-FFF2-40B4-BE49-F238E27FC236}">
                <a16:creationId xmlns:a16="http://schemas.microsoft.com/office/drawing/2014/main" id="{2A1C1F0D-7C48-4C10-BC63-CB970844E03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6024563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067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ADEEB56-1BBE-4C45-B52C-A86F484C1E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49"/>
          <a:stretch/>
        </p:blipFill>
        <p:spPr>
          <a:xfrm>
            <a:off x="9762662" y="137672"/>
            <a:ext cx="2429338" cy="141742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598B73D-D5D2-4F0A-8C9F-B6780993D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8"/>
          <a:stretch/>
        </p:blipFill>
        <p:spPr>
          <a:xfrm>
            <a:off x="0" y="1"/>
            <a:ext cx="2175934" cy="1692772"/>
          </a:xfrm>
          <a:prstGeom prst="rect">
            <a:avLst/>
          </a:prstGeom>
        </p:spPr>
      </p:pic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C2819B09-47EF-457C-9D2D-91CB1DE686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08357" y="1512662"/>
            <a:ext cx="4857162" cy="224712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bIns="432000" anchor="b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4">
            <a:extLst>
              <a:ext uri="{FF2B5EF4-FFF2-40B4-BE49-F238E27FC236}">
                <a16:creationId xmlns:a16="http://schemas.microsoft.com/office/drawing/2014/main" id="{FE4ED4E6-4E65-495A-AF02-1B028F6FB7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6483" y="1512662"/>
            <a:ext cx="4857162" cy="2247122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bIns="432000" anchor="b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366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77A9765A-0AD3-4182-8897-E63A7DD5A8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4562" y="1"/>
            <a:ext cx="6167437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72FF4A-C106-4429-844C-E39D11D0ECE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27556"/>
            <a:ext cx="1948965" cy="17304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54ED8D8-BFCA-40E0-A4F5-37BD3CAD20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62"/>
          <a:stretch/>
        </p:blipFill>
        <p:spPr>
          <a:xfrm flipH="1">
            <a:off x="3024338" y="0"/>
            <a:ext cx="3000224" cy="186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43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BA54E19-5B95-4988-B8E6-162FC9A9745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92" y="174105"/>
            <a:ext cx="1687838" cy="17942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904FAB5-FE89-4406-89DA-F4FE44FAA15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166" y="4855806"/>
            <a:ext cx="1750710" cy="1861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EC346D1-A8EC-463E-A83F-EF2839C93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98" b="5187"/>
          <a:stretch/>
        </p:blipFill>
        <p:spPr>
          <a:xfrm>
            <a:off x="10068273" y="5465201"/>
            <a:ext cx="2123727" cy="1392799"/>
          </a:xfrm>
          <a:prstGeom prst="rect">
            <a:avLst/>
          </a:prstGeom>
        </p:spPr>
      </p:pic>
      <p:sp>
        <p:nvSpPr>
          <p:cNvPr id="12" name="그림 개체 틀 7">
            <a:extLst>
              <a:ext uri="{FF2B5EF4-FFF2-40B4-BE49-F238E27FC236}">
                <a16:creationId xmlns:a16="http://schemas.microsoft.com/office/drawing/2014/main" id="{06BC0249-C78E-4887-BAD2-3C80B1CB90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3392" y="2142445"/>
            <a:ext cx="2371638" cy="4715555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>
              <a:defRPr lang="ko-KR" altLang="en-US"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3" name="그림 개체 틀 7">
            <a:extLst>
              <a:ext uri="{FF2B5EF4-FFF2-40B4-BE49-F238E27FC236}">
                <a16:creationId xmlns:a16="http://schemas.microsoft.com/office/drawing/2014/main" id="{644CC18E-1EEF-49DF-AF5B-77D5E98E447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46702" y="0"/>
            <a:ext cx="2371638" cy="4715555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>
              <a:defRPr lang="ko-KR" altLang="en-US"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4" name="그림 개체 틀 7">
            <a:extLst>
              <a:ext uri="{FF2B5EF4-FFF2-40B4-BE49-F238E27FC236}">
                <a16:creationId xmlns:a16="http://schemas.microsoft.com/office/drawing/2014/main" id="{CB064D0A-AC02-499F-8065-447CE450E9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60012" y="1071222"/>
            <a:ext cx="2371638" cy="4715555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>
              <a:defRPr lang="ko-KR" altLang="en-US"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4446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925060B8-18C0-4CBE-9035-C1BF220318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735528" y="1906692"/>
            <a:ext cx="2193515" cy="2194768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DCA943E9-EE7B-443B-856E-23C6B6B859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62958" y="1906692"/>
            <a:ext cx="2193515" cy="2194768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C53AC701-22F3-43E1-8A81-D3ECE99BAF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90387" y="1906692"/>
            <a:ext cx="2193515" cy="2194768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3" name="그림 개체 틀 2">
            <a:extLst>
              <a:ext uri="{FF2B5EF4-FFF2-40B4-BE49-F238E27FC236}">
                <a16:creationId xmlns:a16="http://schemas.microsoft.com/office/drawing/2014/main" id="{941F5983-A18E-42BB-A1E8-436C3778B95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08098" y="1906692"/>
            <a:ext cx="2193515" cy="2194768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57E292-6492-44BC-9386-CBABFF669C8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63500"/>
            <a:ext cx="2338757" cy="163594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485B5E-D627-4C2E-AB5E-4BFA33C5CCE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638" y="95866"/>
            <a:ext cx="2740362" cy="141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06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9A14CBC-2F13-4351-9D6B-3645D5890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8" t="26087"/>
          <a:stretch/>
        </p:blipFill>
        <p:spPr>
          <a:xfrm>
            <a:off x="-1" y="0"/>
            <a:ext cx="2637041" cy="131945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576AF32-D7D5-4993-9D65-DA5A830A0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63"/>
          <a:stretch/>
        </p:blipFill>
        <p:spPr>
          <a:xfrm>
            <a:off x="9355306" y="2650803"/>
            <a:ext cx="2836694" cy="2315134"/>
          </a:xfrm>
          <a:prstGeom prst="rect">
            <a:avLst/>
          </a:prstGeom>
        </p:spPr>
      </p:pic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4F3E56A0-537E-49DD-BF8E-E78DD87FD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486" y="3429000"/>
            <a:ext cx="11205028" cy="2935509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3603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B34C859-F46E-4889-AA8A-771614A70E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093" y="222291"/>
            <a:ext cx="3708939" cy="361444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5C28B49-975C-4DD9-834A-AA8725D96B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8"/>
          <a:stretch/>
        </p:blipFill>
        <p:spPr>
          <a:xfrm>
            <a:off x="0" y="3808874"/>
            <a:ext cx="2819415" cy="265767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BCD825F-3048-49FD-8F15-132ACDC080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2"/>
          <a:stretch/>
        </p:blipFill>
        <p:spPr>
          <a:xfrm>
            <a:off x="2868445" y="0"/>
            <a:ext cx="3708939" cy="3514236"/>
          </a:xfrm>
          <a:prstGeom prst="rect">
            <a:avLst/>
          </a:prstGeom>
        </p:spPr>
      </p:pic>
      <p:sp>
        <p:nvSpPr>
          <p:cNvPr id="9" name="그림 개체 틀 4">
            <a:extLst>
              <a:ext uri="{FF2B5EF4-FFF2-40B4-BE49-F238E27FC236}">
                <a16:creationId xmlns:a16="http://schemas.microsoft.com/office/drawing/2014/main" id="{FE512F6C-E867-41A8-B5E7-C666D38501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58078" y="0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FEAF77D-DA1C-4D9F-93C1-364CC795F6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"/>
          <a:stretch/>
        </p:blipFill>
        <p:spPr>
          <a:xfrm>
            <a:off x="803700" y="4273985"/>
            <a:ext cx="3366393" cy="2584016"/>
          </a:xfrm>
          <a:prstGeom prst="rect">
            <a:avLst/>
          </a:prstGeom>
        </p:spPr>
      </p:pic>
      <p:sp>
        <p:nvSpPr>
          <p:cNvPr id="8" name="그림 개체 틀 4">
            <a:extLst>
              <a:ext uri="{FF2B5EF4-FFF2-40B4-BE49-F238E27FC236}">
                <a16:creationId xmlns:a16="http://schemas.microsoft.com/office/drawing/2014/main" id="{53075C6F-0207-49E8-935D-1363CA24EE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3578" y="3049126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1101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F572BD8-BF8F-4DBE-BBFF-DE9DAA59DA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8"/>
          <a:stretch/>
        </p:blipFill>
        <p:spPr>
          <a:xfrm>
            <a:off x="5845439" y="5095237"/>
            <a:ext cx="2090708" cy="17627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D653503-9161-44EA-B756-07116C1C600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66892"/>
            <a:ext cx="2061177" cy="21911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9790143-241C-49F7-93A4-49A2EEA14F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045" y="10822"/>
            <a:ext cx="2137955" cy="2273792"/>
          </a:xfrm>
          <a:prstGeom prst="rect">
            <a:avLst/>
          </a:prstGeom>
        </p:spPr>
      </p:pic>
      <p:sp>
        <p:nvSpPr>
          <p:cNvPr id="10" name="그림 개체 틀 11">
            <a:extLst>
              <a:ext uri="{FF2B5EF4-FFF2-40B4-BE49-F238E27FC236}">
                <a16:creationId xmlns:a16="http://schemas.microsoft.com/office/drawing/2014/main" id="{6A78F7C9-8966-4263-9DB9-EC0C1540BD9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7522" y="1036751"/>
            <a:ext cx="2252483" cy="4928738"/>
          </a:xfrm>
          <a:prstGeom prst="roundRect">
            <a:avLst>
              <a:gd name="adj" fmla="val 1345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258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5">
            <a:extLst>
              <a:ext uri="{FF2B5EF4-FFF2-40B4-BE49-F238E27FC236}">
                <a16:creationId xmlns:a16="http://schemas.microsoft.com/office/drawing/2014/main" id="{913B6715-D968-4AAF-A9E1-E904C56B059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79468" y="866775"/>
            <a:ext cx="3779045" cy="5029200"/>
          </a:xfrm>
          <a:prstGeom prst="roundRect">
            <a:avLst>
              <a:gd name="adj" fmla="val 19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B833B87-6920-4731-9A90-352F9F09B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9"/>
          <a:stretch/>
        </p:blipFill>
        <p:spPr>
          <a:xfrm>
            <a:off x="5012533" y="0"/>
            <a:ext cx="2486407" cy="14526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AE57DF-537D-4CDC-AA02-27CCF2EEB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" b="3349"/>
          <a:stretch/>
        </p:blipFill>
        <p:spPr>
          <a:xfrm>
            <a:off x="0" y="4785945"/>
            <a:ext cx="2817192" cy="20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81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8">
            <a:extLst>
              <a:ext uri="{FF2B5EF4-FFF2-40B4-BE49-F238E27FC236}">
                <a16:creationId xmlns:a16="http://schemas.microsoft.com/office/drawing/2014/main" id="{0AE6440A-8018-4E00-94C1-BBB615D0699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94547" y="827437"/>
            <a:ext cx="6379412" cy="4347195"/>
          </a:xfrm>
          <a:prstGeom prst="roundRect">
            <a:avLst>
              <a:gd name="adj" fmla="val 100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A75BC92-A467-4EA0-80AD-E1632983DBE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" y="4955117"/>
            <a:ext cx="1948965" cy="173044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795FDF2-CEC5-4E7B-AAC9-0B8CD7608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58"/>
          <a:stretch/>
        </p:blipFill>
        <p:spPr>
          <a:xfrm>
            <a:off x="2257630" y="0"/>
            <a:ext cx="3000224" cy="169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4C36242D-56FB-418D-8BA5-63905B449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3FDB3B-729E-4F76-8C92-068AD809E62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39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0D4287D2-6528-419F-BCC0-138809D64C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22E32A98-50E9-4C8D-8886-4C2052FE06B7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72" r:id="rId20"/>
    <p:sldLayoutId id="2147483664" r:id="rId2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AD6E4E-1D26-4CC0-96D7-AFB4CA31FA24}"/>
              </a:ext>
            </a:extLst>
          </p:cNvPr>
          <p:cNvSpPr/>
          <p:nvPr/>
        </p:nvSpPr>
        <p:spPr>
          <a:xfrm>
            <a:off x="2901387" y="1558429"/>
            <a:ext cx="6204111" cy="2400657"/>
          </a:xfrm>
          <a:prstGeom prst="rect">
            <a:avLst/>
          </a:prstGeom>
          <a:effectLst/>
        </p:spPr>
        <p:txBody>
          <a:bodyPr wrap="square" anchor="ctr" anchorCtr="0">
            <a:spAutoFit/>
          </a:bodyPr>
          <a:lstStyle/>
          <a:p>
            <a:pPr algn="ctr"/>
            <a:r>
              <a:rPr lang="en-US" b="1" i="1" dirty="0"/>
              <a:t>What brews a winning cup?</a:t>
            </a:r>
            <a:endParaRPr lang="en-US" dirty="0"/>
          </a:p>
          <a:p>
            <a:pPr algn="ctr"/>
            <a:r>
              <a:rPr lang="en-US" altLang="ko-KR" sz="6600" dirty="0">
                <a:solidFill>
                  <a:schemeClr val="bg1"/>
                </a:solidFill>
                <a:latin typeface="+mj-lt"/>
              </a:rPr>
              <a:t>What brews a winning cup?</a:t>
            </a:r>
            <a:endParaRPr lang="ko-KR" altLang="en-US" sz="6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B05EA-F39C-478A-9CD0-A0363E9145D7}"/>
              </a:ext>
            </a:extLst>
          </p:cNvPr>
          <p:cNvSpPr txBox="1"/>
          <p:nvPr/>
        </p:nvSpPr>
        <p:spPr>
          <a:xfrm>
            <a:off x="4660900" y="4417179"/>
            <a:ext cx="2870200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2000" dirty="0">
                <a:cs typeface="Arial" panose="020B0604020202020204" pitchFamily="34" charset="0"/>
              </a:rPr>
              <a:t>Group 9 presents</a:t>
            </a:r>
            <a:endParaRPr lang="ko-KR" altLang="en-US" sz="2000" dirty="0"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0A2BE-F1D3-4CF4-9CA7-72D153CAC726}"/>
              </a:ext>
            </a:extLst>
          </p:cNvPr>
          <p:cNvSpPr txBox="1"/>
          <p:nvPr/>
        </p:nvSpPr>
        <p:spPr>
          <a:xfrm>
            <a:off x="673767" y="3902593"/>
            <a:ext cx="10587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altLang="ko-KR" sz="1400" dirty="0">
                <a:solidFill>
                  <a:schemeClr val="bg1"/>
                </a:solidFill>
                <a:cs typeface="Arial" panose="020B0604020202020204" pitchFamily="34" charset="0"/>
              </a:rPr>
              <a:t>Bryan Larison • Gina Fuller • Alexandra Hagen • Garrett Williford</a:t>
            </a:r>
            <a:endParaRPr lang="ko-KR" alt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8672CD7-47B0-434F-875D-B00EB09FE6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" t="4" r="6" b="93579"/>
          <a:stretch/>
        </p:blipFill>
        <p:spPr>
          <a:xfrm rot="10800000">
            <a:off x="3352210" y="0"/>
            <a:ext cx="3826800" cy="28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rawing of two men sitting on a tea cup">
            <a:extLst>
              <a:ext uri="{FF2B5EF4-FFF2-40B4-BE49-F238E27FC236}">
                <a16:creationId xmlns:a16="http://schemas.microsoft.com/office/drawing/2014/main" id="{7E4D6B89-7E8F-7885-5DD8-C8B0C9983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296" y="2974207"/>
            <a:ext cx="4485371" cy="24929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FAFD6F-FDD6-EC94-A987-89E13683EB96}"/>
              </a:ext>
            </a:extLst>
          </p:cNvPr>
          <p:cNvSpPr txBox="1"/>
          <p:nvPr/>
        </p:nvSpPr>
        <p:spPr>
          <a:xfrm>
            <a:off x="3116180" y="2082083"/>
            <a:ext cx="6097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+mj-lt"/>
              </a:rPr>
              <a:t>But first, coffee……</a:t>
            </a:r>
            <a:endParaRPr lang="ko-KR" alt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6077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A805957-BB39-418A-B04E-4CC3D7A22404}"/>
              </a:ext>
            </a:extLst>
          </p:cNvPr>
          <p:cNvSpPr txBox="1"/>
          <p:nvPr/>
        </p:nvSpPr>
        <p:spPr>
          <a:xfrm>
            <a:off x="1376666" y="1499612"/>
            <a:ext cx="8178802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ko-KR" sz="3600" b="0" dirty="0">
                <a:solidFill>
                  <a:schemeClr val="bg1"/>
                </a:solidFill>
                <a:latin typeface="+mj-lt"/>
              </a:rPr>
              <a:t>Required Packages &amp; Data Prep</a:t>
            </a:r>
            <a:endParaRPr lang="ko-KR" altLang="en-US" sz="36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576135-CAF0-4F8B-8623-DF7A142DB9C6}"/>
              </a:ext>
            </a:extLst>
          </p:cNvPr>
          <p:cNvSpPr txBox="1"/>
          <p:nvPr/>
        </p:nvSpPr>
        <p:spPr>
          <a:xfrm>
            <a:off x="1359357" y="3423720"/>
            <a:ext cx="363835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r>
              <a:rPr lang="en-US" sz="1600" dirty="0">
                <a:solidFill>
                  <a:schemeClr val="bg1"/>
                </a:solidFill>
              </a:rPr>
              <a:t>pip install </a:t>
            </a:r>
            <a:r>
              <a:rPr lang="en-US" sz="1600" dirty="0" err="1">
                <a:solidFill>
                  <a:schemeClr val="bg1"/>
                </a:solidFill>
              </a:rPr>
              <a:t>scipy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import</a:t>
            </a:r>
            <a:r>
              <a:rPr lang="en-US" sz="1600" dirty="0">
                <a:solidFill>
                  <a:schemeClr val="bg1"/>
                </a:solidFill>
              </a:rPr>
              <a:t> pandas </a:t>
            </a:r>
            <a:r>
              <a:rPr lang="en-US" sz="1600" b="1" dirty="0">
                <a:solidFill>
                  <a:schemeClr val="bg1"/>
                </a:solidFill>
              </a:rPr>
              <a:t>as</a:t>
            </a:r>
            <a:r>
              <a:rPr lang="en-US" sz="1600" dirty="0">
                <a:solidFill>
                  <a:schemeClr val="bg1"/>
                </a:solidFill>
              </a:rPr>
              <a:t> pd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import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numpy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as</a:t>
            </a:r>
            <a:r>
              <a:rPr lang="en-US" sz="1600" dirty="0">
                <a:solidFill>
                  <a:schemeClr val="bg1"/>
                </a:solidFill>
              </a:rPr>
              <a:t> np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import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matplotlib.pyplot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as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plt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import</a:t>
            </a:r>
            <a:r>
              <a:rPr lang="en-US" sz="1600" dirty="0">
                <a:solidFill>
                  <a:schemeClr val="bg1"/>
                </a:solidFill>
              </a:rPr>
              <a:t> seaborn </a:t>
            </a:r>
            <a:r>
              <a:rPr lang="en-US" sz="1600" b="1" dirty="0">
                <a:solidFill>
                  <a:schemeClr val="bg1"/>
                </a:solidFill>
              </a:rPr>
              <a:t>as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sns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from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scipy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import</a:t>
            </a:r>
            <a:r>
              <a:rPr lang="en-US" sz="1600" dirty="0">
                <a:solidFill>
                  <a:schemeClr val="bg1"/>
                </a:solidFill>
              </a:rPr>
              <a:t> stats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7229C7-901F-4C9C-B6A5-2A46DCAB603A}"/>
              </a:ext>
            </a:extLst>
          </p:cNvPr>
          <p:cNvSpPr/>
          <p:nvPr/>
        </p:nvSpPr>
        <p:spPr>
          <a:xfrm>
            <a:off x="2027698" y="2992328"/>
            <a:ext cx="28416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Packages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EBF93D-3FE3-45C9-9056-620D56BC5331}"/>
              </a:ext>
            </a:extLst>
          </p:cNvPr>
          <p:cNvSpPr/>
          <p:nvPr/>
        </p:nvSpPr>
        <p:spPr>
          <a:xfrm>
            <a:off x="2466960" y="2491303"/>
            <a:ext cx="85443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EA84D5-A32C-4A30-8BB4-BFC456749D46}"/>
              </a:ext>
            </a:extLst>
          </p:cNvPr>
          <p:cNvSpPr txBox="1"/>
          <p:nvPr/>
        </p:nvSpPr>
        <p:spPr>
          <a:xfrm>
            <a:off x="4774130" y="3453724"/>
            <a:ext cx="423511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Load data &amp; import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Inspect and understand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Handle missing or inconsistent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Convert and clean numeric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Create new cleaned </a:t>
            </a:r>
            <a:r>
              <a:rPr lang="en-US" sz="1500" dirty="0" err="1">
                <a:solidFill>
                  <a:schemeClr val="bg1"/>
                </a:solidFill>
              </a:rPr>
              <a:t>DataFrames</a:t>
            </a:r>
            <a:r>
              <a:rPr lang="en-US" sz="1500" dirty="0">
                <a:solidFill>
                  <a:schemeClr val="bg1"/>
                </a:solidFill>
              </a:rPr>
              <a:t> for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research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Prepare datasets for visualizations</a:t>
            </a:r>
            <a:endParaRPr lang="ko-KR" altLang="en-US" sz="1500" dirty="0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EA8504-8D31-40B1-86DF-5B4134FD29C0}"/>
              </a:ext>
            </a:extLst>
          </p:cNvPr>
          <p:cNvSpPr/>
          <p:nvPr/>
        </p:nvSpPr>
        <p:spPr>
          <a:xfrm>
            <a:off x="6096000" y="3053614"/>
            <a:ext cx="28416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Data Prep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885024-48A8-4CDE-A9F5-FC8651EAF055}"/>
              </a:ext>
            </a:extLst>
          </p:cNvPr>
          <p:cNvSpPr/>
          <p:nvPr/>
        </p:nvSpPr>
        <p:spPr>
          <a:xfrm>
            <a:off x="6420317" y="2530663"/>
            <a:ext cx="2439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E4B39B-DCF5-489A-9EC2-1E6BE7AAF72F}"/>
              </a:ext>
            </a:extLst>
          </p:cNvPr>
          <p:cNvSpPr txBox="1"/>
          <p:nvPr/>
        </p:nvSpPr>
        <p:spPr>
          <a:xfrm>
            <a:off x="8859633" y="3493084"/>
            <a:ext cx="3143070" cy="2053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df</a:t>
            </a:r>
            <a:r>
              <a:rPr lang="en-US" sz="1400" dirty="0">
                <a:solidFill>
                  <a:schemeClr val="bg1"/>
                </a:solidFill>
              </a:rPr>
              <a:t> = </a:t>
            </a:r>
            <a:r>
              <a:rPr lang="en-US" sz="1400" dirty="0" err="1">
                <a:solidFill>
                  <a:schemeClr val="bg1"/>
                </a:solidFill>
              </a:rPr>
              <a:t>pd.read_csv</a:t>
            </a:r>
            <a:r>
              <a:rPr lang="en-US" sz="1400" dirty="0">
                <a:solidFill>
                  <a:schemeClr val="bg1"/>
                </a:solidFill>
              </a:rPr>
              <a:t>("coffee_ratings.csv")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scores = </a:t>
            </a:r>
            <a:r>
              <a:rPr lang="en-US" sz="1400" dirty="0" err="1">
                <a:solidFill>
                  <a:schemeClr val="bg1"/>
                </a:solidFill>
              </a:rPr>
              <a:t>df_sorted</a:t>
            </a:r>
            <a:r>
              <a:rPr lang="en-US" sz="1400" dirty="0">
                <a:solidFill>
                  <a:schemeClr val="bg1"/>
                </a:solidFill>
              </a:rPr>
              <a:t>['</a:t>
            </a:r>
            <a:r>
              <a:rPr lang="en-US" sz="1400" dirty="0" err="1">
                <a:solidFill>
                  <a:schemeClr val="bg1"/>
                </a:solidFill>
              </a:rPr>
              <a:t>total_sensory_score</a:t>
            </a:r>
            <a:r>
              <a:rPr lang="en-US" sz="1400" dirty="0">
                <a:solidFill>
                  <a:schemeClr val="bg1"/>
                </a:solidFill>
              </a:rPr>
              <a:t>’];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corrs</a:t>
            </a:r>
            <a:r>
              <a:rPr lang="en-US" sz="1400" dirty="0">
                <a:solidFill>
                  <a:schemeClr val="bg1"/>
                </a:solidFill>
              </a:rPr>
              <a:t> = top[</a:t>
            </a:r>
            <a:r>
              <a:rPr lang="en-US" sz="1400" dirty="0" err="1">
                <a:solidFill>
                  <a:schemeClr val="bg1"/>
                </a:solidFill>
              </a:rPr>
              <a:t>attrs</a:t>
            </a:r>
            <a:r>
              <a:rPr lang="en-US" sz="1400" dirty="0">
                <a:solidFill>
                  <a:schemeClr val="bg1"/>
                </a:solidFill>
              </a:rPr>
              <a:t>].</a:t>
            </a:r>
            <a:r>
              <a:rPr lang="en-US" sz="1400" dirty="0" err="1">
                <a:solidFill>
                  <a:schemeClr val="bg1"/>
                </a:solidFill>
              </a:rPr>
              <a:t>corrwith</a:t>
            </a:r>
            <a:r>
              <a:rPr lang="en-US" sz="1400" dirty="0">
                <a:solidFill>
                  <a:schemeClr val="bg1"/>
                </a:solidFill>
              </a:rPr>
              <a:t>(top["</a:t>
            </a:r>
            <a:r>
              <a:rPr lang="en-US" sz="1400" dirty="0" err="1">
                <a:solidFill>
                  <a:schemeClr val="bg1"/>
                </a:solidFill>
              </a:rPr>
              <a:t>total_cup_points</a:t>
            </a:r>
            <a:r>
              <a:rPr lang="en-US" sz="1400" dirty="0">
                <a:solidFill>
                  <a:schemeClr val="bg1"/>
                </a:solidFill>
              </a:rPr>
              <a:t>"]).</a:t>
            </a:r>
            <a:r>
              <a:rPr lang="en-US" sz="1400" dirty="0" err="1">
                <a:solidFill>
                  <a:schemeClr val="bg1"/>
                </a:solidFill>
              </a:rPr>
              <a:t>sort_values</a:t>
            </a:r>
            <a:r>
              <a:rPr lang="en-US" sz="1400" dirty="0">
                <a:solidFill>
                  <a:schemeClr val="bg1"/>
                </a:solidFill>
              </a:rPr>
              <a:t>(ascending=True);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df</a:t>
            </a:r>
            <a:r>
              <a:rPr lang="en-US" sz="1400" dirty="0">
                <a:solidFill>
                  <a:schemeClr val="bg1"/>
                </a:solidFill>
              </a:rPr>
              <a:t>['flavor'] = </a:t>
            </a:r>
            <a:r>
              <a:rPr lang="en-US" sz="1400" dirty="0" err="1">
                <a:solidFill>
                  <a:schemeClr val="bg1"/>
                </a:solidFill>
              </a:rPr>
              <a:t>pd.to_numeric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df</a:t>
            </a:r>
            <a:r>
              <a:rPr lang="en-US" sz="1400" dirty="0">
                <a:solidFill>
                  <a:schemeClr val="bg1"/>
                </a:solidFill>
              </a:rPr>
              <a:t>['flavor'], errors='coerce');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4E1651-ECA8-475B-BFC3-7A18873E4A54}"/>
              </a:ext>
            </a:extLst>
          </p:cNvPr>
          <p:cNvSpPr/>
          <p:nvPr/>
        </p:nvSpPr>
        <p:spPr>
          <a:xfrm>
            <a:off x="8859633" y="2992328"/>
            <a:ext cx="28416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Variables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93DBA8F-02D7-4915-BBD4-05FC8475CF01}"/>
              </a:ext>
            </a:extLst>
          </p:cNvPr>
          <p:cNvSpPr/>
          <p:nvPr/>
        </p:nvSpPr>
        <p:spPr>
          <a:xfrm>
            <a:off x="9153216" y="2510983"/>
            <a:ext cx="2439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906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C6E9-9A13-602D-3F42-1F4C0A90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E95A3DB-5F4B-3E8A-F755-FC6D4FA7F82B}"/>
              </a:ext>
            </a:extLst>
          </p:cNvPr>
          <p:cNvSpPr txBox="1"/>
          <p:nvPr/>
        </p:nvSpPr>
        <p:spPr>
          <a:xfrm>
            <a:off x="1530418" y="590167"/>
            <a:ext cx="96541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+mj-lt"/>
              </a:rPr>
              <a:t>Which processing method scores highest in flavor?</a:t>
            </a:r>
            <a:endParaRPr lang="ko-KR" altLang="en-US" sz="4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B9119-58B3-1A2C-E590-4DF1EE74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39" y="1828799"/>
            <a:ext cx="4395379" cy="4626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EA9A2A-B1B7-C8E6-15B4-6BCAF6787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505" y="1848234"/>
            <a:ext cx="4722796" cy="2294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206A21-1855-DDBB-1130-777F061D1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766" y="4268877"/>
            <a:ext cx="3879152" cy="248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4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B984-D5AD-E526-BC2E-B7DC581C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DC5DF6-6874-967C-1E89-92727C35A3E6}"/>
              </a:ext>
            </a:extLst>
          </p:cNvPr>
          <p:cNvSpPr txBox="1"/>
          <p:nvPr/>
        </p:nvSpPr>
        <p:spPr>
          <a:xfrm>
            <a:off x="3684070" y="590167"/>
            <a:ext cx="45551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How have average coffee flavor scores changed across different harvest years?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E5E685-F106-D4B0-584A-D8068CAB7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11" y="2170312"/>
            <a:ext cx="4821787" cy="38544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51C154-1683-E119-02A7-35935D8858D2}"/>
              </a:ext>
            </a:extLst>
          </p:cNvPr>
          <p:cNvSpPr txBox="1"/>
          <p:nvPr/>
        </p:nvSpPr>
        <p:spPr>
          <a:xfrm>
            <a:off x="5662498" y="2170312"/>
            <a:ext cx="6529502" cy="2358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Extracted grading year from </a:t>
            </a:r>
            <a:r>
              <a:rPr lang="en-US" sz="1600" b="1" dirty="0" err="1">
                <a:solidFill>
                  <a:schemeClr val="bg1"/>
                </a:solidFill>
              </a:rPr>
              <a:t>grading_date</a:t>
            </a:r>
            <a:r>
              <a:rPr lang="en-US" sz="1600" b="1" dirty="0">
                <a:solidFill>
                  <a:schemeClr val="bg1"/>
                </a:solidFill>
              </a:rPr>
              <a:t> for consistency.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Cleaned harvest year from bad values.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Replaced missing harvest year value with grading date year.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Converted flavor scores to numeric values for accuracy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Built boxplot with pandas</a:t>
            </a:r>
          </a:p>
        </p:txBody>
      </p:sp>
    </p:spTree>
    <p:extLst>
      <p:ext uri="{BB962C8B-B14F-4D97-AF65-F5344CB8AC3E}">
        <p14:creationId xmlns:p14="http://schemas.microsoft.com/office/powerpoint/2010/main" val="392176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D6100-CAFF-10CC-2D62-DF8ED841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5B644E0E-FE5B-D680-EE3F-66F64B2757BA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58" y="2185947"/>
            <a:ext cx="4403558" cy="36541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B8DEE6-92DC-FEC2-356D-63CD931B7879}"/>
              </a:ext>
            </a:extLst>
          </p:cNvPr>
          <p:cNvSpPr txBox="1"/>
          <p:nvPr/>
        </p:nvSpPr>
        <p:spPr>
          <a:xfrm>
            <a:off x="5322771" y="2502569"/>
            <a:ext cx="6381549" cy="1949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Outliers more common in early years, with 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occasional exception.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Flavor scores becoming more stable and consistent as time goes 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Reliable coffee flavor across brands.</a:t>
            </a:r>
          </a:p>
        </p:txBody>
      </p:sp>
    </p:spTree>
    <p:extLst>
      <p:ext uri="{BB962C8B-B14F-4D97-AF65-F5344CB8AC3E}">
        <p14:creationId xmlns:p14="http://schemas.microsoft.com/office/powerpoint/2010/main" val="2725563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6BA30-727F-8243-DA9B-D0C9BD371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CB2DFC4-42F7-357A-9DBA-BD6A36FA0C64}"/>
              </a:ext>
            </a:extLst>
          </p:cNvPr>
          <p:cNvSpPr txBox="1"/>
          <p:nvPr/>
        </p:nvSpPr>
        <p:spPr>
          <a:xfrm>
            <a:off x="2904425" y="243658"/>
            <a:ext cx="609760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+mj-lt"/>
              </a:rPr>
              <a:t>Which processing method scores highest in flavor?</a:t>
            </a:r>
            <a:endParaRPr lang="ko-KR" altLang="en-US" sz="4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Content Placeholder 5" descr="A screenshot of a computer">
            <a:extLst>
              <a:ext uri="{FF2B5EF4-FFF2-40B4-BE49-F238E27FC236}">
                <a16:creationId xmlns:a16="http://schemas.microsoft.com/office/drawing/2014/main" id="{678D321E-601F-AFDB-DC3F-A039ACE94A36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74" y="2587403"/>
            <a:ext cx="5923658" cy="32424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A496F5-202B-13E4-2FDC-B8D1B37D5549}"/>
              </a:ext>
            </a:extLst>
          </p:cNvPr>
          <p:cNvSpPr txBox="1"/>
          <p:nvPr/>
        </p:nvSpPr>
        <p:spPr>
          <a:xfrm>
            <a:off x="6614963" y="2828835"/>
            <a:ext cx="50027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Determined that rows with nan values  needed to be dropped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Created a new </a:t>
            </a:r>
            <a:r>
              <a:rPr lang="en-US" b="1" dirty="0" err="1">
                <a:solidFill>
                  <a:schemeClr val="bg1"/>
                </a:solidFill>
              </a:rPr>
              <a:t>DataFrame</a:t>
            </a:r>
            <a:r>
              <a:rPr lang="en-US" b="1" dirty="0">
                <a:solidFill>
                  <a:schemeClr val="bg1"/>
                </a:solidFill>
              </a:rPr>
              <a:t> with cleaned ‘</a:t>
            </a:r>
            <a:r>
              <a:rPr lang="en-US" b="1" dirty="0" err="1">
                <a:solidFill>
                  <a:schemeClr val="bg1"/>
                </a:solidFill>
              </a:rPr>
              <a:t>processing_method</a:t>
            </a:r>
            <a:r>
              <a:rPr lang="en-US" b="1" dirty="0">
                <a:solidFill>
                  <a:schemeClr val="bg1"/>
                </a:solidFill>
              </a:rPr>
              <a:t>’ column</a:t>
            </a:r>
          </a:p>
        </p:txBody>
      </p:sp>
    </p:spTree>
    <p:extLst>
      <p:ext uri="{BB962C8B-B14F-4D97-AF65-F5344CB8AC3E}">
        <p14:creationId xmlns:p14="http://schemas.microsoft.com/office/powerpoint/2010/main" val="263874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0117-8E29-ED0F-3B2C-F765BD41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F4C4E2-131E-10C2-1471-FBF87951B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479" y="1256611"/>
            <a:ext cx="5159187" cy="2034716"/>
          </a:xfrm>
          <a:prstGeom prst="rect">
            <a:avLst/>
          </a:prstGeom>
        </p:spPr>
      </p:pic>
      <p:pic>
        <p:nvPicPr>
          <p:cNvPr id="3" name="Content Placeholder 5" descr="A graph of a bar graph">
            <a:extLst>
              <a:ext uri="{FF2B5EF4-FFF2-40B4-BE49-F238E27FC236}">
                <a16:creationId xmlns:a16="http://schemas.microsoft.com/office/drawing/2014/main" id="{6629E638-5D36-D48F-C428-1F52D3DB141B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066" y="3756390"/>
            <a:ext cx="5181600" cy="23098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68232D-1E7D-6B6C-CFA0-01A3433BBB95}"/>
              </a:ext>
            </a:extLst>
          </p:cNvPr>
          <p:cNvSpPr txBox="1"/>
          <p:nvPr/>
        </p:nvSpPr>
        <p:spPr>
          <a:xfrm>
            <a:off x="6882063" y="1927020"/>
            <a:ext cx="457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Calculated mean flavor and counts </a:t>
            </a:r>
          </a:p>
          <a:p>
            <a:r>
              <a:rPr lang="en-US" b="1" dirty="0">
                <a:solidFill>
                  <a:schemeClr val="bg1"/>
                </a:solidFill>
              </a:rPr>
              <a:t>     of each processing method.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Created a bar chart of the calculated data</a:t>
            </a:r>
          </a:p>
        </p:txBody>
      </p:sp>
    </p:spTree>
    <p:extLst>
      <p:ext uri="{BB962C8B-B14F-4D97-AF65-F5344CB8AC3E}">
        <p14:creationId xmlns:p14="http://schemas.microsoft.com/office/powerpoint/2010/main" val="31504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8106-02DF-3693-AB04-4B75F6D6C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5D5301F-99ED-481E-3DE9-CEDCE1E687EB}"/>
              </a:ext>
            </a:extLst>
          </p:cNvPr>
          <p:cNvSpPr txBox="1"/>
          <p:nvPr/>
        </p:nvSpPr>
        <p:spPr>
          <a:xfrm>
            <a:off x="532598" y="1081056"/>
            <a:ext cx="111268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+mj-lt"/>
              </a:rPr>
              <a:t>What is the relationship between a coffee’s country of origin, the altitude where it is grown, and its flavor score?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CEC0F1-7620-05D9-1F28-77F61A845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94" y="3271752"/>
            <a:ext cx="4678919" cy="279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1400F3-8E51-A660-963D-52952CD6D53F}"/>
              </a:ext>
            </a:extLst>
          </p:cNvPr>
          <p:cNvSpPr txBox="1"/>
          <p:nvPr/>
        </p:nvSpPr>
        <p:spPr>
          <a:xfrm>
            <a:off x="5601903" y="2964581"/>
            <a:ext cx="51110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Coffee samples plotted across number of samples by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Colombia stands out with an abnormal   number of samples that occur over 1600 meters</a:t>
            </a:r>
          </a:p>
        </p:txBody>
      </p:sp>
    </p:spTree>
    <p:extLst>
      <p:ext uri="{BB962C8B-B14F-4D97-AF65-F5344CB8AC3E}">
        <p14:creationId xmlns:p14="http://schemas.microsoft.com/office/powerpoint/2010/main" val="906993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F8B3-1408-2BAB-EF7E-5E0A0A2E8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D24676-F141-7887-439E-3A785192D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702" y="1270535"/>
            <a:ext cx="7914815" cy="16778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B9B456-CB99-0E4E-BD7C-A4789FCFD221}"/>
              </a:ext>
            </a:extLst>
          </p:cNvPr>
          <p:cNvSpPr txBox="1"/>
          <p:nvPr/>
        </p:nvSpPr>
        <p:spPr>
          <a:xfrm>
            <a:off x="2616467" y="3505734"/>
            <a:ext cx="7287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Filters data to only include countries with altitude equal to or greater than 1600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Plots count into simple bar chart with respective titles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labels</a:t>
            </a:r>
          </a:p>
        </p:txBody>
      </p:sp>
    </p:spTree>
    <p:extLst>
      <p:ext uri="{BB962C8B-B14F-4D97-AF65-F5344CB8AC3E}">
        <p14:creationId xmlns:p14="http://schemas.microsoft.com/office/powerpoint/2010/main" val="961538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B68BDF-AD55-4EFA-A490-A10A6540460A}"/>
              </a:ext>
            </a:extLst>
          </p:cNvPr>
          <p:cNvSpPr txBox="1"/>
          <p:nvPr/>
        </p:nvSpPr>
        <p:spPr>
          <a:xfrm>
            <a:off x="2128052" y="994156"/>
            <a:ext cx="7935896" cy="923330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 algn="ctr">
              <a:defRPr sz="4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altLang="ko-KR" sz="5400" dirty="0"/>
              <a:t>Results &amp;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99EE7-0DD2-E7A9-887F-340EE333B9C5}"/>
              </a:ext>
            </a:extLst>
          </p:cNvPr>
          <p:cNvSpPr txBox="1"/>
          <p:nvPr/>
        </p:nvSpPr>
        <p:spPr>
          <a:xfrm>
            <a:off x="664143" y="1893526"/>
            <a:ext cx="103760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Top coffees are clearly distinguishable, with total sensory scores ≥56.8 defining the elite    tier.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Flavor is the strongest predictor of overall cup quality, outperforming other sensory          attributes.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Flavor scores have grown more consistent over time, reflecting improved cultivation and grading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Semi-washed and natural dry processing produce the highest average flavor scores,         suggesting minimal-intervention methods preserve flavor best.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High-altitude coffees (≥1600m) consistently score higher, confirming altitude as a major quality driver.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Country-level differences are largely explained by altitude, with high-elevation regions dominating top-score distributions.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Overall, flavor, altitude, and processing style are the key forces that elevate coffees into     the top tier of quality.</a:t>
            </a:r>
          </a:p>
        </p:txBody>
      </p:sp>
    </p:spTree>
    <p:extLst>
      <p:ext uri="{BB962C8B-B14F-4D97-AF65-F5344CB8AC3E}">
        <p14:creationId xmlns:p14="http://schemas.microsoft.com/office/powerpoint/2010/main" val="1907620479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newave - Montserrat Light">
      <a:majorFont>
        <a:latin typeface="Knewave"/>
        <a:ea typeface="Arial Unicode MS"/>
        <a:cs typeface=""/>
      </a:majorFont>
      <a:minorFont>
        <a:latin typeface="Montserrat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 cap="flat">
          <a:noFill/>
          <a:prstDash val="solid"/>
          <a:miter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 smtClean="0">
            <a:latin typeface="+mj-lt"/>
          </a:defRPr>
        </a:defPPr>
      </a:lstStyle>
    </a:spDef>
    <a:lnDef>
      <a:spPr>
        <a:ln>
          <a:solidFill>
            <a:srgbClr val="F4F1E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3637</TotalTime>
  <Words>505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PPTMON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alex hagen</cp:lastModifiedBy>
  <cp:revision>359</cp:revision>
  <dcterms:created xsi:type="dcterms:W3CDTF">2019-04-06T05:20:47Z</dcterms:created>
  <dcterms:modified xsi:type="dcterms:W3CDTF">2025-12-01T15:59:08Z</dcterms:modified>
</cp:coreProperties>
</file>