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6B625B"/>
                </a:solidFill>
                <a:latin typeface="Calibri"/>
              </a:rPr>
              <a:t>Average gap, top 10% minus the rest (points)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E9D3B4"/>
              </a:solidFill>
            </c:spPr>
          </c:dPt>
          <c:dPt>
            <c:idx val="1"/>
            <c:spPr>
              <a:solidFill>
                <a:srgbClr val="E9D3B4"/>
              </a:solidFill>
            </c:spPr>
          </c:dPt>
          <c:dPt>
            <c:idx val="2"/>
            <c:spPr>
              <a:solidFill>
                <a:srgbClr val="E9D3B4"/>
              </a:solidFill>
            </c:spPr>
          </c:dPt>
          <c:dPt>
            <c:idx val="3"/>
            <c:spPr>
              <a:solidFill>
                <a:srgbClr val="E9D3B4"/>
              </a:solidFill>
            </c:spPr>
          </c:dPt>
          <c:dPt>
            <c:idx val="4"/>
            <c:spPr>
              <a:solidFill>
                <a:srgbClr val="E9D3B4"/>
              </a:solidFill>
            </c:spPr>
          </c:dPt>
          <c:dPt>
            <c:idx val="5"/>
            <c:spPr>
              <a:solidFill>
                <a:srgbClr val="E9D3B4"/>
              </a:solidFill>
            </c:spPr>
          </c:dPt>
          <c:dPt>
            <c:idx val="6"/>
            <c:spPr>
              <a:solidFill>
                <a:srgbClr val="E9D3B4"/>
              </a:solidFill>
            </c:spPr>
          </c:dPt>
          <c:dPt>
            <c:idx val="7"/>
            <c:spPr>
              <a:solidFill>
                <a:srgbClr val="3B2418"/>
              </a:solidFill>
            </c:spPr>
          </c:dPt>
          <c:dPt>
            <c:idx val="8"/>
            <c:spPr>
              <a:solidFill>
                <a:srgbClr val="3B2418"/>
              </a:solidFill>
            </c:spPr>
          </c:dPt>
          <c:dPt>
            <c:idx val="9"/>
            <c:spPr>
              <a:solidFill>
                <a:srgbClr val="3B2418"/>
              </a:solidFill>
            </c:spPr>
          </c:dPt>
          <c:cat>
            <c:strRef>
              <c:f>Sheet1!$A$2:$A$11</c:f>
              <c:strCache>
                <c:ptCount val="10"/>
                <c:pt idx="0">
                  <c:v>Sweetness</c:v>
                </c:pt>
                <c:pt idx="1">
                  <c:v>Uniformity</c:v>
                </c:pt>
                <c:pt idx="2">
                  <c:v>Clean Cup</c:v>
                </c:pt>
                <c:pt idx="3">
                  <c:v>Body</c:v>
                </c:pt>
                <c:pt idx="4">
                  <c:v>Aroma</c:v>
                </c:pt>
                <c:pt idx="5">
                  <c:v>Balance</c:v>
                </c:pt>
                <c:pt idx="6">
                  <c:v>Acidity</c:v>
                </c:pt>
                <c:pt idx="7">
                  <c:v>Aftertaste</c:v>
                </c:pt>
                <c:pt idx="8">
                  <c:v>Flavor</c:v>
                </c:pt>
                <c:pt idx="9">
                  <c:v>Overall (cupper)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0.116</c:v>
                </c:pt>
                <c:pt idx="1">
                  <c:v>0.146</c:v>
                </c:pt>
                <c:pt idx="2">
                  <c:v>0.166</c:v>
                </c:pt>
                <c:pt idx="3">
                  <c:v>0.436</c:v>
                </c:pt>
                <c:pt idx="4">
                  <c:v>0.487</c:v>
                </c:pt>
                <c:pt idx="5">
                  <c:v>0.501</c:v>
                </c:pt>
                <c:pt idx="6">
                  <c:v>0.528</c:v>
                </c:pt>
                <c:pt idx="7">
                  <c:v>0.567</c:v>
                </c:pt>
                <c:pt idx="8">
                  <c:v>0.569</c:v>
                </c:pt>
                <c:pt idx="9">
                  <c:v>0.635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sz="1200">
                  <a:solidFill>
                    <a:srgbClr val="2B22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2B221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2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6B625B"/>
                </a:solidFill>
                <a:latin typeface="Calibri"/>
              </a:rPr>
              <a:t>Mean flavor score by processing method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C8873A"/>
              </a:solidFill>
            </c:spPr>
          </c:dPt>
          <c:dPt>
            <c:idx val="1"/>
            <c:spPr>
              <a:solidFill>
                <a:srgbClr val="C8873A"/>
              </a:solidFill>
            </c:spPr>
          </c:dPt>
          <c:dPt>
            <c:idx val="2"/>
            <c:spPr>
              <a:solidFill>
                <a:srgbClr val="C8873A"/>
              </a:solidFill>
            </c:spPr>
          </c:dPt>
          <c:dPt>
            <c:idx val="3"/>
            <c:spPr>
              <a:solidFill>
                <a:srgbClr val="3B2418"/>
              </a:solidFill>
            </c:spPr>
          </c:dPt>
          <c:dPt>
            <c:idx val="4"/>
            <c:spPr>
              <a:solidFill>
                <a:srgbClr val="3B2418"/>
              </a:solidFill>
            </c:spPr>
          </c:dPt>
          <c:cat>
            <c:strRef>
              <c:f>Sheet1!$A$2:$A$6</c:f>
              <c:strCache>
                <c:ptCount val="5"/>
                <c:pt idx="0">
                  <c:v>Other  (n=26)</c:v>
                </c:pt>
                <c:pt idx="1">
                  <c:v>Washed / Wet  (n=815)</c:v>
                </c:pt>
                <c:pt idx="2">
                  <c:v>Pulped natural / honey  (n=14)</c:v>
                </c:pt>
                <c:pt idx="3">
                  <c:v>Natural / Dry  (n=258)</c:v>
                </c:pt>
                <c:pt idx="4">
                  <c:v>Semi-washed / Semi-pulped  (n=56)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7.445</c:v>
                </c:pt>
                <c:pt idx="1">
                  <c:v>7.486</c:v>
                </c:pt>
                <c:pt idx="2">
                  <c:v>7.511</c:v>
                </c:pt>
                <c:pt idx="3">
                  <c:v>7.578</c:v>
                </c:pt>
                <c:pt idx="4">
                  <c:v>7.587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2B22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2B221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65"/>
          <c:min val="7.3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2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6B625B"/>
                </a:solidFill>
                <a:latin typeface="Calibri"/>
              </a:rPr>
              <a:t>Mean total cup points (countries with 20+ reviews)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C8873A"/>
              </a:solidFill>
            </c:spPr>
          </c:dPt>
          <c:dPt>
            <c:idx val="1"/>
            <c:spPr>
              <a:solidFill>
                <a:srgbClr val="C8873A"/>
              </a:solidFill>
            </c:spPr>
          </c:dPt>
          <c:dPt>
            <c:idx val="2"/>
            <c:spPr>
              <a:solidFill>
                <a:srgbClr val="C8873A"/>
              </a:solidFill>
            </c:spPr>
          </c:dPt>
          <c:dPt>
            <c:idx val="3"/>
            <c:spPr>
              <a:solidFill>
                <a:srgbClr val="C8873A"/>
              </a:solidFill>
            </c:spPr>
          </c:dPt>
          <c:dPt>
            <c:idx val="4"/>
            <c:spPr>
              <a:solidFill>
                <a:srgbClr val="C8873A"/>
              </a:solidFill>
            </c:spPr>
          </c:dPt>
          <c:dPt>
            <c:idx val="5"/>
            <c:spPr>
              <a:solidFill>
                <a:srgbClr val="C8873A"/>
              </a:solidFill>
            </c:spPr>
          </c:dPt>
          <c:dPt>
            <c:idx val="6"/>
            <c:spPr>
              <a:solidFill>
                <a:srgbClr val="C8873A"/>
              </a:solidFill>
            </c:spPr>
          </c:dPt>
          <c:dPt>
            <c:idx val="7"/>
            <c:spPr>
              <a:solidFill>
                <a:srgbClr val="C8873A"/>
              </a:solidFill>
            </c:spPr>
          </c:dPt>
          <c:dPt>
            <c:idx val="8"/>
            <c:spPr>
              <a:solidFill>
                <a:srgbClr val="C8873A"/>
              </a:solidFill>
            </c:spPr>
          </c:dPt>
          <c:dPt>
            <c:idx val="9"/>
            <c:spPr>
              <a:solidFill>
                <a:srgbClr val="C8873A"/>
              </a:solidFill>
            </c:spPr>
          </c:dPt>
          <c:dPt>
            <c:idx val="10"/>
            <c:spPr>
              <a:solidFill>
                <a:srgbClr val="C8873A"/>
              </a:solidFill>
            </c:spPr>
          </c:dPt>
          <c:dPt>
            <c:idx val="11"/>
            <c:spPr>
              <a:solidFill>
                <a:srgbClr val="C8873A"/>
              </a:solidFill>
            </c:spPr>
          </c:dPt>
          <c:dPt>
            <c:idx val="12"/>
            <c:spPr>
              <a:solidFill>
                <a:srgbClr val="C8873A"/>
              </a:solidFill>
            </c:spPr>
          </c:dPt>
          <c:dPt>
            <c:idx val="13"/>
            <c:spPr>
              <a:solidFill>
                <a:srgbClr val="3B2418"/>
              </a:solidFill>
            </c:spPr>
          </c:dPt>
          <c:dPt>
            <c:idx val="14"/>
            <c:spPr>
              <a:solidFill>
                <a:srgbClr val="3B2418"/>
              </a:solidFill>
            </c:spPr>
          </c:dPt>
          <c:dPt>
            <c:idx val="15"/>
            <c:spPr>
              <a:solidFill>
                <a:srgbClr val="3B2418"/>
              </a:solidFill>
            </c:spPr>
          </c:dPt>
          <c:cat>
            <c:strRef>
              <c:f>Sheet1!$A$2:$A$17</c:f>
              <c:strCache>
                <c:ptCount val="16"/>
                <c:pt idx="0">
                  <c:v>Nicaragua</c:v>
                </c:pt>
                <c:pt idx="1">
                  <c:v>Honduras</c:v>
                </c:pt>
                <c:pt idx="2">
                  <c:v>Mexico</c:v>
                </c:pt>
                <c:pt idx="3">
                  <c:v>United States (Hawaii)</c:v>
                </c:pt>
                <c:pt idx="4">
                  <c:v>Guatemala</c:v>
                </c:pt>
                <c:pt idx="5">
                  <c:v>Taiwan</c:v>
                </c:pt>
                <c:pt idx="6">
                  <c:v>Tanzania</c:v>
                </c:pt>
                <c:pt idx="7">
                  <c:v>Brazil</c:v>
                </c:pt>
                <c:pt idx="8">
                  <c:v>Thailand</c:v>
                </c:pt>
                <c:pt idx="9">
                  <c:v>Indonesia</c:v>
                </c:pt>
                <c:pt idx="10">
                  <c:v>Costa Rica</c:v>
                </c:pt>
                <c:pt idx="11">
                  <c:v>El Salvador</c:v>
                </c:pt>
                <c:pt idx="12">
                  <c:v>Colombia</c:v>
                </c:pt>
                <c:pt idx="13">
                  <c:v>Uganda</c:v>
                </c:pt>
                <c:pt idx="14">
                  <c:v>Kenya</c:v>
                </c:pt>
                <c:pt idx="15">
                  <c:v>Ethiopia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80.46</c:v>
                </c:pt>
                <c:pt idx="1">
                  <c:v>80.88</c:v>
                </c:pt>
                <c:pt idx="2">
                  <c:v>80.89</c:v>
                </c:pt>
                <c:pt idx="3">
                  <c:v>81.82</c:v>
                </c:pt>
                <c:pt idx="4">
                  <c:v>81.85</c:v>
                </c:pt>
                <c:pt idx="5">
                  <c:v>82.0</c:v>
                </c:pt>
                <c:pt idx="6">
                  <c:v>82.37</c:v>
                </c:pt>
                <c:pt idx="7">
                  <c:v>82.41</c:v>
                </c:pt>
                <c:pt idx="8">
                  <c:v>82.57</c:v>
                </c:pt>
                <c:pt idx="9">
                  <c:v>82.57</c:v>
                </c:pt>
                <c:pt idx="10">
                  <c:v>82.79</c:v>
                </c:pt>
                <c:pt idx="11">
                  <c:v>83.05</c:v>
                </c:pt>
                <c:pt idx="12">
                  <c:v>83.11</c:v>
                </c:pt>
                <c:pt idx="13">
                  <c:v>83.45</c:v>
                </c:pt>
                <c:pt idx="14">
                  <c:v>84.31</c:v>
                </c:pt>
                <c:pt idx="15">
                  <c:v>85.48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2B22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2B221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6.5"/>
          <c:min val="78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2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6B625B"/>
                </a:solidFill>
                <a:latin typeface="Calibri"/>
              </a:rPr>
              <a:t>Share of score variation explained (cross-validated R²)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3B2418"/>
              </a:solidFill>
            </c:spPr>
          </c:dPt>
          <c:dPt>
            <c:idx val="1"/>
            <c:spPr>
              <a:solidFill>
                <a:srgbClr val="C8873A"/>
              </a:solidFill>
            </c:spPr>
          </c:dPt>
          <c:dPt>
            <c:idx val="2"/>
            <c:spPr>
              <a:solidFill>
                <a:srgbClr val="6B625B"/>
              </a:solidFill>
            </c:spPr>
          </c:dPt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Linear regression</c:v>
                </c:pt>
                <c:pt idx="2">
                  <c:v>Baseline (average)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0.259</c:v>
                </c:pt>
                <c:pt idx="1">
                  <c:v>0.195</c:v>
                </c:pt>
                <c:pt idx="2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>
                  <a:solidFill>
                    <a:srgbClr val="2B22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2B221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2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B22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0">
                <a:solidFill>
                  <a:srgbClr val="6B625B"/>
                </a:solidFill>
                <a:latin typeface="Calibri"/>
              </a:rPr>
              <a:t>Drop in R² when each feature is shuffled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C8873A"/>
              </a:solidFill>
            </c:spPr>
          </c:dPt>
          <c:dPt>
            <c:idx val="1"/>
            <c:spPr>
              <a:solidFill>
                <a:srgbClr val="C8873A"/>
              </a:solidFill>
            </c:spPr>
          </c:dPt>
          <c:dPt>
            <c:idx val="2"/>
            <c:spPr>
              <a:solidFill>
                <a:srgbClr val="C8873A"/>
              </a:solidFill>
            </c:spPr>
          </c:dPt>
          <c:dPt>
            <c:idx val="3"/>
            <c:spPr>
              <a:solidFill>
                <a:srgbClr val="C8873A"/>
              </a:solidFill>
            </c:spPr>
          </c:dPt>
          <c:dPt>
            <c:idx val="4"/>
            <c:spPr>
              <a:solidFill>
                <a:srgbClr val="C8873A"/>
              </a:solidFill>
            </c:spPr>
          </c:dPt>
          <c:dPt>
            <c:idx val="5"/>
            <c:spPr>
              <a:solidFill>
                <a:srgbClr val="C8873A"/>
              </a:solidFill>
            </c:spPr>
          </c:dPt>
          <c:dPt>
            <c:idx val="6"/>
            <c:spPr>
              <a:solidFill>
                <a:srgbClr val="3B2418"/>
              </a:solidFill>
            </c:spPr>
          </c:dPt>
          <c:dPt>
            <c:idx val="7"/>
            <c:spPr>
              <a:solidFill>
                <a:srgbClr val="3B2418"/>
              </a:solidFill>
            </c:spPr>
          </c:dPt>
          <c:dPt>
            <c:idx val="8"/>
            <c:spPr>
              <a:solidFill>
                <a:srgbClr val="3B2418"/>
              </a:solidFill>
            </c:spPr>
          </c:dPt>
          <c:cat>
            <c:strRef>
              <c:f>Sheet1!$A$2:$A$10</c:f>
              <c:strCache>
                <c:ptCount val="9"/>
                <c:pt idx="0">
                  <c:v>Bean color</c:v>
                </c:pt>
                <c:pt idx="1">
                  <c:v>Processing method</c:v>
                </c:pt>
                <c:pt idx="2">
                  <c:v>Moisture</c:v>
                </c:pt>
                <c:pt idx="3">
                  <c:v>Category 1 defects</c:v>
                </c:pt>
                <c:pt idx="4">
                  <c:v>Variety</c:v>
                </c:pt>
                <c:pt idx="5">
                  <c:v>Grading year</c:v>
                </c:pt>
                <c:pt idx="6">
                  <c:v>Category 2 defects</c:v>
                </c:pt>
                <c:pt idx="7">
                  <c:v>Country</c:v>
                </c:pt>
                <c:pt idx="8">
                  <c:v>Altitude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0.0031</c:v>
                </c:pt>
                <c:pt idx="1">
                  <c:v>0.0078</c:v>
                </c:pt>
                <c:pt idx="2">
                  <c:v>0.0092</c:v>
                </c:pt>
                <c:pt idx="3">
                  <c:v>0.0202</c:v>
                </c:pt>
                <c:pt idx="4">
                  <c:v>0.0279</c:v>
                </c:pt>
                <c:pt idx="5">
                  <c:v>0.0486</c:v>
                </c:pt>
                <c:pt idx="6">
                  <c:v>0.072</c:v>
                </c:pt>
                <c:pt idx="7">
                  <c:v>0.0797</c:v>
                </c:pt>
                <c:pt idx="8">
                  <c:v>0.0947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2B221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2B221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B22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analyzed Coffee Quality Institute reviews to find what separates great coffee from average, and built models to weigh each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numbers. Each one is backed up in the slides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cleaned the data separately for each chart. Now one cleaning step feeds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10% = total cup points at or above the 90th percentile. Bars show how much higher the top group scores on each 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Grading year replaces v1's messy harvest_year. Levene test compares the variance of the two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Kruskal-Wallis is a non-parametric ANOVA. Effect size epsilon-squared of about 0.01 means processing explains ~1% of flavor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Spearman correlation is rank-based, so it is robust to the skewed score distribution. The line only shows altitude bins with at least 15 coffees.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Countries with at least 20 reviews. v1 counted samples per country, which measures how much each country submitted, not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cup points is literally the sum of the 10 sensory scores, so regressing it on those scores is circular. We predict from pre-tasting information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R² is averaged over 5 cross-validation folds. MAE is the average prediction error in points. On a held-out 20% test set, the Random Forest scored R² = 0.22.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Permutation importance: shuffle one feature on held-out data and measure how much R² drops. Effect sizes come from the linear regression, holding the other factors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the actionable takeaways, then the honest limits of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otif circle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4864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What Brews a Winning Cup?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E9D3B4"/>
                </a:solidFill>
                <a:latin typeface="Calibri"/>
              </a:rPr>
              <a:t>What 1,338 professional coffee reviews say about quality, and how much of it we can predict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C8873A"/>
                </a:solidFill>
                <a:latin typeface="Calibri"/>
              </a:rPr>
              <a:t>Group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Bryan Larison • Gina Fuller • Alexandra Hagen • Garrett Williford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Altitude, origin and clean beans brew a winning cup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2</a:t>
            </a:r>
          </a:p>
        </p:txBody>
      </p:sp>
      <p:sp>
        <p:nvSpPr>
          <p:cNvPr id="5" name="Stat card 26%"/>
          <p:cNvSpPr/>
          <p:nvPr/>
        </p:nvSpPr>
        <p:spPr>
          <a:xfrm>
            <a:off x="548640" y="1600200"/>
            <a:ext cx="2587752" cy="160020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2039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3B2418"/>
                </a:solidFill>
                <a:latin typeface="Cambria"/>
              </a:rPr>
              <a:t>26%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60320"/>
            <a:ext cx="2039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221D"/>
                </a:solidFill>
                <a:latin typeface="Calibri"/>
              </a:rPr>
              <a:t>of score variation predicted from farm data alone (Random Forest)</a:t>
            </a:r>
          </a:p>
        </p:txBody>
      </p:sp>
      <p:sp>
        <p:nvSpPr>
          <p:cNvPr id="8" name="Stat card +0.1"/>
          <p:cNvSpPr/>
          <p:nvPr/>
        </p:nvSpPr>
        <p:spPr>
          <a:xfrm>
            <a:off x="3364992" y="1600200"/>
            <a:ext cx="2587752" cy="160020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783080"/>
            <a:ext cx="2039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5B8C5A"/>
                </a:solidFill>
                <a:latin typeface="Cambria"/>
              </a:rPr>
              <a:t>+0.1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560320"/>
            <a:ext cx="2039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221D"/>
                </a:solidFill>
                <a:latin typeface="Calibri"/>
              </a:rPr>
              <a:t>points per 100 m of altitude, other factors held equal</a:t>
            </a:r>
          </a:p>
        </p:txBody>
      </p:sp>
      <p:sp>
        <p:nvSpPr>
          <p:cNvPr id="11" name="Stat card −0.1"/>
          <p:cNvSpPr/>
          <p:nvPr/>
        </p:nvSpPr>
        <p:spPr>
          <a:xfrm>
            <a:off x="6181344" y="1600200"/>
            <a:ext cx="2587752" cy="160020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783080"/>
            <a:ext cx="2039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C8873A"/>
                </a:solidFill>
                <a:latin typeface="Cambria"/>
              </a:rPr>
              <a:t>−0.1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560320"/>
            <a:ext cx="2039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221D"/>
                </a:solidFill>
                <a:latin typeface="Calibri"/>
              </a:rPr>
              <a:t>points per category 2 bean defect</a:t>
            </a:r>
          </a:p>
        </p:txBody>
      </p:sp>
      <p:sp>
        <p:nvSpPr>
          <p:cNvPr id="14" name="Stat card +4.6"/>
          <p:cNvSpPr/>
          <p:nvPr/>
        </p:nvSpPr>
        <p:spPr>
          <a:xfrm>
            <a:off x="8997696" y="1600200"/>
            <a:ext cx="2587752" cy="160020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783080"/>
            <a:ext cx="20391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3B2418"/>
                </a:solidFill>
                <a:latin typeface="Cambria"/>
              </a:rPr>
              <a:t>+4.6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2560320"/>
            <a:ext cx="2039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221D"/>
                </a:solidFill>
                <a:latin typeface="Calibri"/>
              </a:rPr>
              <a:t>point gap: Ethiopia vs. Mexico, the largest origin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3B2418"/>
                </a:solidFill>
                <a:latin typeface="Calibri"/>
              </a:rPr>
              <a:t>On the cupping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2B221D"/>
                </a:solidFill>
                <a:latin typeface="Calibri"/>
              </a:rPr>
              <a:t>Flavor, aftertaste and the cupper's overall impression separate the top 10% from the rest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2B221D"/>
                </a:solidFill>
                <a:latin typeface="Calibri"/>
              </a:rPr>
              <a:t>Processing method matters statistically, but only by about 0.1 flavor points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2B221D"/>
                </a:solidFill>
                <a:latin typeface="Calibri"/>
              </a:rPr>
              <a:t>Scores have become more consistent: flavor spread fell ~25% from 2010–12 to 2015–17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1,338 CQI reviews, cleaned once and tested properly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3</a:t>
            </a:r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2587752" cy="310896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92024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3B2418"/>
                </a:solidFill>
                <a:latin typeface="Cambria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2103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B221D"/>
                </a:solidFill>
                <a:latin typeface="Calibri"/>
              </a:rPr>
              <a:t>Removed a 0-point review, 35 impossible altitudes (up to 190,164 m) and 264 zero moisture readings</a:t>
            </a:r>
          </a:p>
        </p:txBody>
      </p:sp>
      <p:sp>
        <p:nvSpPr>
          <p:cNvPr id="9" name="Step 2"/>
          <p:cNvSpPr/>
          <p:nvPr/>
        </p:nvSpPr>
        <p:spPr>
          <a:xfrm>
            <a:off x="3364992" y="1645920"/>
            <a:ext cx="2587752" cy="310896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9312" y="192024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6974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3B2418"/>
                </a:solidFill>
                <a:latin typeface="Cambria"/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246120"/>
            <a:ext cx="2103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B221D"/>
                </a:solidFill>
                <a:latin typeface="Calibri"/>
              </a:rPr>
              <a:t>Six questions on sensory traits, time, processing, altitude and origin</a:t>
            </a:r>
          </a:p>
        </p:txBody>
      </p:sp>
      <p:sp>
        <p:nvSpPr>
          <p:cNvPr id="13" name="Step 3"/>
          <p:cNvSpPr/>
          <p:nvPr/>
        </p:nvSpPr>
        <p:spPr>
          <a:xfrm>
            <a:off x="6181344" y="1645920"/>
            <a:ext cx="2587752" cy="310896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55664" y="192024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6974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3B2418"/>
                </a:solidFill>
                <a:latin typeface="Cambria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246120"/>
            <a:ext cx="2103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B221D"/>
                </a:solidFill>
                <a:latin typeface="Calibri"/>
              </a:rPr>
              <a:t>Kruskal-Wallis, Spearman and Levene tests so small gaps aren't over-read</a:t>
            </a:r>
          </a:p>
        </p:txBody>
      </p:sp>
      <p:sp>
        <p:nvSpPr>
          <p:cNvPr id="17" name="Step 4"/>
          <p:cNvSpPr/>
          <p:nvPr/>
        </p:nvSpPr>
        <p:spPr>
          <a:xfrm>
            <a:off x="8997696" y="1645920"/>
            <a:ext cx="2587752" cy="310896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72016" y="192024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6974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3B2418"/>
                </a:solidFill>
                <a:latin typeface="Cambria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3246120"/>
            <a:ext cx="2103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B221D"/>
                </a:solidFill>
                <a:latin typeface="Calibri"/>
              </a:rPr>
              <a:t>Linear regression and Random Forest, 5-fold cross-validated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1">
                <a:solidFill>
                  <a:srgbClr val="6B625B"/>
                </a:solidFill>
                <a:latin typeface="Calibri"/>
              </a:rPr>
              <a:t>Source: Coffee Quality Institute reviews scraped by James Ledoux (2018), via TidyTuesday. 1,310 arabica and 28 robusta, graded 2010–2018.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 badge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280160" y="457200"/>
            <a:ext cx="103628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Top coffees win on flavor, aftertaste and overall impression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ommentary card"/>
          <p:cNvSpPr/>
          <p:nvPr/>
        </p:nvSpPr>
        <p:spPr>
          <a:xfrm>
            <a:off x="7680960" y="1600200"/>
            <a:ext cx="3959352" cy="448056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3B2418"/>
                </a:solidFill>
                <a:latin typeface="Cambria"/>
              </a:rPr>
              <a:t>Top 10% = 84.7+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51760"/>
            <a:ext cx="3474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The winners lead on every attribute, by the most on flavor, aftertaste and overall impression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Uniformity, clean cup and sweetness are near 10/10 for almost every coffee, so they rarely decide a winner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Flavor alone correlates 0.83 with the total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 badge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280160" y="457200"/>
            <a:ext cx="103628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Flavor scores have become more consistent since 2012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Box plot of flavor score by grading year, 2010 to 20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7315200" cy="3754362"/>
          </a:xfrm>
          <a:prstGeom prst="rect">
            <a:avLst/>
          </a:prstGeom>
        </p:spPr>
      </p:pic>
      <p:sp>
        <p:nvSpPr>
          <p:cNvPr id="7" name="Stat card −25%"/>
          <p:cNvSpPr/>
          <p:nvPr/>
        </p:nvSpPr>
        <p:spPr>
          <a:xfrm>
            <a:off x="8138160" y="160020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9535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5B8C5A"/>
                </a:solidFill>
                <a:latin typeface="Cambria"/>
              </a:rPr>
              <a:t>−25%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6032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221D"/>
                </a:solidFill>
                <a:latin typeface="Calibri"/>
              </a:rPr>
              <a:t>drop in flavor-score spread, 2010–12 vs. 2015–17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520440"/>
            <a:ext cx="350215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Std. dev. fell from 0.39 to 0.29 (Levene p &lt; 0.001)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Fewer extreme scores in recent years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Early years have fewer reviews, so some of this may reflect which coffees were submitted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 badge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280160" y="457200"/>
            <a:ext cx="103628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Processing method matters, but only by about 0.1 points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ommentary card"/>
          <p:cNvSpPr/>
          <p:nvPr/>
        </p:nvSpPr>
        <p:spPr>
          <a:xfrm>
            <a:off x="7680960" y="1600200"/>
            <a:ext cx="3959352" cy="448056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3B2418"/>
                </a:solidFill>
                <a:latin typeface="Cambria"/>
              </a:rPr>
              <a:t>Real, but 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51760"/>
            <a:ext cx="3474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Differences are significant (Kruskal-Wallis p = 0.002)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…but processing explains only ~1% of flavor variation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Natural/dry beats washed by ~0.09 points (p &lt; 0.001)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Semi-washed and honey have too few samples to rank confidently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 badge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280160" y="457200"/>
            <a:ext cx="103628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Higher farms score higher, especially above 1,300 m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Scatter of altitude vs. score with median line, and violin plot by altitude b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680960" cy="3600116"/>
          </a:xfrm>
          <a:prstGeom prst="rect">
            <a:avLst/>
          </a:prstGeom>
        </p:spPr>
      </p:pic>
      <p:sp>
        <p:nvSpPr>
          <p:cNvPr id="7" name="Stat card ρ = 0.28"/>
          <p:cNvSpPr/>
          <p:nvPr/>
        </p:nvSpPr>
        <p:spPr>
          <a:xfrm>
            <a:off x="8412480" y="1600200"/>
            <a:ext cx="3227832" cy="160020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83080"/>
            <a:ext cx="267919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3B2418"/>
                </a:solidFill>
                <a:latin typeface="Cambria"/>
              </a:rPr>
              <a:t>ρ = 0.28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60320"/>
            <a:ext cx="26791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221D"/>
                </a:solidFill>
                <a:latin typeface="Calibri"/>
              </a:rPr>
              <a:t>rank correlation between altitude and score (p &lt; 0.001)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520440"/>
            <a:ext cx="322783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Median score 83.2 at ≥1,600 m vs. 82.2 below 1,000 m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Flat below ~1,300 m, then a steady climb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Too few farms above 2,000 m to judge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 badge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280160" y="457200"/>
            <a:ext cx="103628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East Africa leads; Mexico and Central America trail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280160"/>
          <a:ext cx="694944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ommentary card"/>
          <p:cNvSpPr/>
          <p:nvPr/>
        </p:nvSpPr>
        <p:spPr>
          <a:xfrm>
            <a:off x="7680960" y="1600200"/>
            <a:ext cx="3959352" cy="448056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3B2418"/>
                </a:solidFill>
                <a:latin typeface="Cambria"/>
              </a:rPr>
              <a:t>5-point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651760"/>
            <a:ext cx="3474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Ethiopia (85.5) and Kenya (84.3) top the list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Colombia is the best high-volume origin (183 reviews, 83.1)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Mexico has the most reviews (236) but averages 80.9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Differences across countries are highly significant (p &lt; 0.001)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 badge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280160" y="457200"/>
            <a:ext cx="103628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Can we predict quality before anyone tastes the coffee?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9</a:t>
            </a:r>
          </a:p>
        </p:txBody>
      </p:sp>
      <p:sp>
        <p:nvSpPr>
          <p:cNvPr id="6" name="The tempting model"/>
          <p:cNvSpPr/>
          <p:nvPr/>
        </p:nvSpPr>
        <p:spPr>
          <a:xfrm>
            <a:off x="548640" y="160020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2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6B625B"/>
                </a:solidFill>
                <a:latin typeface="Cambria"/>
              </a:rPr>
              <a:t>The tempting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700" b="0" i="0">
                <a:solidFill>
                  <a:srgbClr val="6B625B"/>
                </a:solidFill>
                <a:latin typeface="Calibri"/>
              </a:rPr>
              <a:t>Predict total score from the 10 sensory scores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700" b="0" i="0">
                <a:solidFill>
                  <a:srgbClr val="6B625B"/>
                </a:solidFill>
                <a:latin typeface="Calibri"/>
              </a:rPr>
              <a:t>R² ≈ 1.0, because the total is their sum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700" b="0" i="0">
                <a:solidFill>
                  <a:srgbClr val="6B625B"/>
                </a:solidFill>
                <a:latin typeface="Calibri"/>
              </a:rPr>
              <a:t>Circular: it teaches us nothing new</a:t>
            </a:r>
          </a:p>
        </p:txBody>
      </p:sp>
      <p:sp>
        <p:nvSpPr>
          <p:cNvPr id="9" name="Our model"/>
          <p:cNvSpPr/>
          <p:nvPr/>
        </p:nvSpPr>
        <p:spPr>
          <a:xfrm>
            <a:off x="6217920" y="160020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3B2418"/>
                </a:solidFill>
                <a:latin typeface="Cambria"/>
              </a:rPr>
              <a:t>Our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700" b="0" i="0">
                <a:solidFill>
                  <a:srgbClr val="2B221D"/>
                </a:solidFill>
                <a:latin typeface="Calibri"/>
              </a:rPr>
              <a:t>Predict total score from information known before tasting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700" b="0" i="0">
                <a:solidFill>
                  <a:srgbClr val="2B221D"/>
                </a:solidFill>
                <a:latin typeface="Calibri"/>
              </a:rPr>
              <a:t>Farm: altitude, country, variety, species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700" b="0" i="0">
                <a:solidFill>
                  <a:srgbClr val="2B221D"/>
                </a:solidFill>
                <a:latin typeface="Calibri"/>
              </a:rPr>
              <a:t>Beans: processing, moisture, color, defects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700" b="0" i="0">
                <a:solidFill>
                  <a:srgbClr val="2B221D"/>
                </a:solidFill>
                <a:latin typeface="Calibri"/>
              </a:rPr>
              <a:t>Grading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6B625B"/>
                </a:solidFill>
                <a:latin typeface="Calibri"/>
              </a:rPr>
              <a:t>Three models compared with 5-fold cross-validation: a baseline that always guesses the average, linear regression, and a Random Forest.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 badge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280160" y="457200"/>
            <a:ext cx="103628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Farm data alone predicts about a quarter of quality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371600"/>
          <a:ext cx="69494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6B625B"/>
                </a:solidFill>
                <a:latin typeface="Cambria"/>
              </a:rPr>
              <a:t>1.83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25B"/>
                </a:solidFill>
                <a:latin typeface="Calibri"/>
              </a:rPr>
              <a:t>avg. error,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48920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C8873A"/>
                </a:solidFill>
                <a:latin typeface="Cambria"/>
              </a:rPr>
              <a:t>1.65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5440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25B"/>
                </a:solidFill>
                <a:latin typeface="Calibri"/>
              </a:rPr>
              <a:t>avg. error, linear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89204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3B2418"/>
                </a:solidFill>
                <a:latin typeface="Cambria"/>
              </a:rPr>
              <a:t>1.57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440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6B625B"/>
                </a:solidFill>
                <a:latin typeface="Calibri"/>
              </a:rPr>
              <a:t>avg. error, random forest</a:t>
            </a:r>
          </a:p>
        </p:txBody>
      </p:sp>
      <p:sp>
        <p:nvSpPr>
          <p:cNvPr id="13" name="Commentary card"/>
          <p:cNvSpPr/>
          <p:nvPr/>
        </p:nvSpPr>
        <p:spPr>
          <a:xfrm>
            <a:off x="7680960" y="1600200"/>
            <a:ext cx="3959352" cy="448056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82880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3B2418"/>
                </a:solidFill>
                <a:latin typeface="Cambria"/>
              </a:rPr>
              <a:t>What this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651760"/>
            <a:ext cx="3474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Both models clearly beat guessing the average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Random Forest wins because effects aren't straight lines (altitude only kicks in above ~1,300 m)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500" b="0" i="0">
                <a:solidFill>
                  <a:srgbClr val="2B221D"/>
                </a:solidFill>
                <a:latin typeface="Calibri"/>
              </a:rPr>
              <a:t>The other ~75% comes from roasting, the cupper and lot-to-lot differences we can't see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 badge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280160" y="457200"/>
            <a:ext cx="1036289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3B2418"/>
                </a:solidFill>
                <a:latin typeface="Cambria"/>
              </a:rPr>
              <a:t>Altitude, origin and bean defects carry the most weight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What Brews a Winning Cup?  |  Group 9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6B625B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280160"/>
          <a:ext cx="694944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tat card +0.10 pts"/>
          <p:cNvSpPr/>
          <p:nvPr/>
        </p:nvSpPr>
        <p:spPr>
          <a:xfrm>
            <a:off x="7680960" y="1600200"/>
            <a:ext cx="3959352" cy="160020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783080"/>
            <a:ext cx="3410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5B8C5A"/>
                </a:solidFill>
                <a:latin typeface="Cambria"/>
              </a:rPr>
              <a:t>+0.10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560320"/>
            <a:ext cx="3410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221D"/>
                </a:solidFill>
                <a:latin typeface="Calibri"/>
              </a:rPr>
              <a:t>per 100 m of altitude (p &lt; 0.001)</a:t>
            </a:r>
          </a:p>
        </p:txBody>
      </p:sp>
      <p:sp>
        <p:nvSpPr>
          <p:cNvPr id="10" name="Stat card −0.11 pts"/>
          <p:cNvSpPr/>
          <p:nvPr/>
        </p:nvSpPr>
        <p:spPr>
          <a:xfrm>
            <a:off x="7680960" y="3429000"/>
            <a:ext cx="3959352" cy="1600200"/>
          </a:xfrm>
          <a:prstGeom prst="roundRect">
            <a:avLst>
              <a:gd name="adj" fmla="val 8000"/>
            </a:avLst>
          </a:prstGeom>
          <a:solidFill>
            <a:srgbClr val="F7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3611880"/>
            <a:ext cx="3410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C8873A"/>
                </a:solidFill>
                <a:latin typeface="Cambria"/>
              </a:rPr>
              <a:t>−0.11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4389120"/>
            <a:ext cx="34107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B221D"/>
                </a:solidFill>
                <a:latin typeface="Calibri"/>
              </a:rPr>
              <a:t>per category 2 defect, e.g. broken or insect-damaged beans (p &lt; 0.001)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5257800"/>
            <a:ext cx="3959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6B625B"/>
                </a:solidFill>
                <a:latin typeface="Calibri"/>
              </a:rPr>
              <a:t>Processing method, bean color and species add almost nothing once these are known.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The recipe for a winning cup</a:t>
            </a:r>
          </a:p>
        </p:txBody>
      </p:sp>
      <p:sp>
        <p:nvSpPr>
          <p:cNvPr id="3" name="For buyers"/>
          <p:cNvSpPr/>
          <p:nvPr/>
        </p:nvSpPr>
        <p:spPr>
          <a:xfrm>
            <a:off x="548640" y="1737360"/>
            <a:ext cx="3502152" cy="4023360"/>
          </a:xfrm>
          <a:prstGeom prst="roundRect">
            <a:avLst>
              <a:gd name="adj" fmla="val 8000"/>
            </a:avLst>
          </a:prstGeom>
          <a:solidFill>
            <a:srgbClr val="4E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8873A"/>
                </a:solidFill>
                <a:latin typeface="Cambria"/>
              </a:rPr>
              <a:t>For buyers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2926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Favor lots grown above 1,600 m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Check green-bean defect counts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East African and Colombian origins lead</a:t>
            </a:r>
          </a:p>
        </p:txBody>
      </p:sp>
      <p:sp>
        <p:nvSpPr>
          <p:cNvPr id="6" name="For producers"/>
          <p:cNvSpPr/>
          <p:nvPr/>
        </p:nvSpPr>
        <p:spPr>
          <a:xfrm>
            <a:off x="4297679" y="1737360"/>
            <a:ext cx="3502152" cy="4023360"/>
          </a:xfrm>
          <a:prstGeom prst="roundRect">
            <a:avLst>
              <a:gd name="adj" fmla="val 8000"/>
            </a:avLst>
          </a:prstGeom>
          <a:solidFill>
            <a:srgbClr val="4E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19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8873A"/>
                </a:solidFill>
                <a:latin typeface="Cambria"/>
              </a:rPr>
              <a:t>For producers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19" y="2697480"/>
            <a:ext cx="2926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Sorting out defects is the most controllable lever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Processing choice is a small lever (~0.1 pts)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Flavor and aftertaste are what judges reward</a:t>
            </a:r>
          </a:p>
        </p:txBody>
      </p:sp>
      <p:sp>
        <p:nvSpPr>
          <p:cNvPr id="9" name="Limits and next steps"/>
          <p:cNvSpPr/>
          <p:nvPr/>
        </p:nvSpPr>
        <p:spPr>
          <a:xfrm>
            <a:off x="8046719" y="1737360"/>
            <a:ext cx="3502152" cy="4023360"/>
          </a:xfrm>
          <a:prstGeom prst="roundRect">
            <a:avLst>
              <a:gd name="adj" fmla="val 8000"/>
            </a:avLst>
          </a:prstGeom>
          <a:solidFill>
            <a:srgbClr val="4E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8873A"/>
                </a:solidFill>
                <a:latin typeface="Cambria"/>
              </a:rPr>
              <a:t>Limits and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59" y="2697480"/>
            <a:ext cx="2926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Self-submitted coffees, not a random sample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17% of rows missing altitude; only 28 robusta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Next: add roast and price data; model specialty-grade odds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E9D3B4"/>
                </a:solidFill>
                <a:latin typeface="Calibri"/>
              </a:rPr>
              <a:t>Code, data and notebook: github.com/LyonmanX/Coffee-Analysis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Brews a Winning Cup?</dc:title>
  <dc:subject/>
  <dc:creator>Group 9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